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70" r:id="rId3"/>
    <p:sldId id="258" r:id="rId4"/>
    <p:sldId id="280" r:id="rId5"/>
    <p:sldId id="272" r:id="rId6"/>
    <p:sldId id="27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4" r:id="rId15"/>
    <p:sldId id="262" r:id="rId16"/>
    <p:sldId id="282" r:id="rId17"/>
    <p:sldId id="281" r:id="rId18"/>
    <p:sldId id="283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E9EBEB"/>
    <a:srgbClr val="B6CEE8"/>
    <a:srgbClr val="1C2BF4"/>
    <a:srgbClr val="C7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7714"/>
  </p:normalViewPr>
  <p:slideViewPr>
    <p:cSldViewPr snapToGrid="0">
      <p:cViewPr varScale="1">
        <p:scale>
          <a:sx n="150" d="100"/>
          <a:sy n="150" d="100"/>
        </p:scale>
        <p:origin x="79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3" d="100"/>
          <a:sy n="113" d="100"/>
        </p:scale>
        <p:origin x="448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812A2-BA0E-4022-8B99-492E73CBDA7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A0117-C677-4066-8C21-0E55B01FD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7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A0117-C677-4066-8C21-0E55B01FD1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766D-E292-F8D9-2719-107DB39AF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3698C-F1F2-3D17-23FD-EC7B0468E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91324-9160-E675-F6A3-E0BD4B457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7DF5-044A-406B-8FFF-0DDD724F8DE9}" type="datetime1">
              <a:rPr lang="en-US" smtClean="0"/>
              <a:t>4/12/26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26DA8-E261-04B4-DB17-D2E3ED8C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1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2C49-E5D7-A951-932C-6830298D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07F2-0D4B-9C65-D30F-2B194C27B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79234-36A6-4D60-DC6D-95E688C8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FB34-4C4E-4153-AB5A-43828B979C77}" type="datetime1">
              <a:rPr lang="en-US" smtClean="0"/>
              <a:t>4/12/26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73D97-1FDC-3135-8659-08034C73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4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6274-23C6-641C-4CAE-34A939F7D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49EBB-4BDE-9D0A-D3ED-C8EF6E546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2CD0E-5D78-3B1A-CE3A-27F26258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6528-A2ED-47D4-B96C-733C6D0735BE}" type="datetime1">
              <a:rPr lang="en-US" smtClean="0"/>
              <a:t>4/12/26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D6CDE-7A66-1797-33F1-DF541742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6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F91A-06C4-D4A8-8C01-A9446E56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C262C-7024-AA88-7170-1372E793C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C08A4-7705-7A67-5115-BE325B615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0BDAA-2F77-339F-799B-282A39F1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86CCB-0D62-4B3C-A601-C68CF8EC5E10}" type="datetime1">
              <a:rPr lang="en-US" smtClean="0"/>
              <a:t>4/12/26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9FE58-2E50-A222-FC62-3C987171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2F9E-2EED-5E69-C328-1DC1DBB9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93644-4398-304A-E07F-E9A7B2C36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B25F0-20C8-1203-4571-4CEE07404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C8F7A-668C-7798-FB32-78CABFAD4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3BB2D-5F07-0253-7303-2095505FD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146B6-7C7C-0C8A-A68D-6DA4B139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34C0-B99D-4884-B109-D5E5D9D6E9E1}" type="datetime1">
              <a:rPr lang="en-US" smtClean="0"/>
              <a:t>4/12/26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80A1E-8872-D81D-5213-649B9568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0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5C22-ADA1-29B9-4229-AF8D3AA8C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A584B-3227-8CEA-AF2C-7BD809D9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495E1-E824-4659-A7D0-4EEFC469C102}" type="datetime1">
              <a:rPr lang="en-US" smtClean="0"/>
              <a:t>4/12/26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0F8E5-F4C6-52EE-57C6-40F9976D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0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DEBDF-2B29-BA6F-7BF5-40BFEAF5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C1D4-67F0-DB18-47C2-0F992E997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072E-0A09-FB4F-66B0-9BC6A3C21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99771-3A72-2B67-7FD7-B17EB71E0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C132C-3CFD-BFA7-CF9C-A758F28B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4214E-46DE-4CE4-A77E-2DA69B60A470}" type="datetime1">
              <a:rPr lang="en-US" smtClean="0"/>
              <a:t>4/12/26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1C44E-93D2-924B-2602-270FA055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1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D70F-A8D5-B191-AE62-A25B5E23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814E41-7B0E-F6C1-F5DC-5352A74DE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38388-7810-D295-8163-3D7E548E9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08F24-8E46-8620-7522-969C8D983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13968-66EE-4CF6-B8FA-A8B1DA5C6DE5}" type="datetime1">
              <a:rPr lang="en-US" smtClean="0"/>
              <a:t>4/12/26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2FF27-3F6B-95B8-F6DF-47440EE2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8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BFC6-81D9-DC59-1F31-BEEAADAF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E5026-EE30-6A0D-0F9B-3F67BADD9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426A5-4982-BCC7-D391-7DB0D0AB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E8A4-8F4B-4961-875C-96FC351CC633}" type="datetime1">
              <a:rPr lang="en-US" smtClean="0"/>
              <a:t>4/12/26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641E4-435E-9E80-1C98-8EA3B188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3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314E20-230F-1064-06C8-42D35FEFD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63B8C-D779-12A7-525C-E8276530C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27752-16BD-75FF-FFC2-8633E47EA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DFB3-CFB3-4FC0-807C-52111A144021}" type="datetime1">
              <a:rPr lang="en-US" smtClean="0"/>
              <a:t>4/12/26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7BBB-AB7A-EB97-602F-22BAE6F0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4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8553-59C0-8DD4-0173-5CC4496AC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F0E47-FA79-7284-C5C1-2D05FFA7A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98A80-1DC4-D790-B53F-86EC1896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4832D-C168-AF9B-44AB-A5133566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2F28E-79FF-146D-F04B-B0B9C325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98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C6CB-106C-4663-2EF0-8DA74DA7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555A7-2C52-3685-EF5D-744BA4328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C2957-AE34-3BD0-F236-96821395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5C754-620F-8191-53FF-CD99685C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CFBF2-013E-4B65-B507-0A305299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12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A689-1545-5567-55C0-69660751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D6729-578C-FCFE-19E5-8D474D5D9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1C8D-AA2A-1489-2A2C-D2A11AD9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4DF2C-458E-71FD-0B8D-BFF26DD2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45A59-20EB-2CE7-D0F9-A558CEA8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51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577B-22BF-41D1-D717-D0CB3AD1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5FBAD-3149-C443-2239-5936C21E4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7220B-F9D6-03FB-C58B-564AA3DC3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674BB-B08C-E95F-5E29-D6D048FA8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CEE08-4477-7D58-3B28-9258F7E4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5DBE6-FFCA-E16E-7E61-018915A3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83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ACAC-2BE7-AE51-1583-2F5669CC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1910D-CEC7-B35E-DBC0-DC917445C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2BCD0-6778-DB4F-4586-D5F769799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0A84A-8610-DC9F-C820-3A3BF41B7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BCBA7-8369-B846-B550-02C7D5FEF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CBBAA-E073-E8C3-77D8-CD7290CD3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F09F81-01A3-AB4F-9CAF-7C3A2FA4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9FB95-E97F-619B-A2BB-34BA70D5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84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BD44-BEEB-A9CC-812F-EBB8AF7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01A0A-8E36-6B82-0EEB-08338BF0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97217-540C-68FF-6CFE-8458DAE2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B9992-B172-9471-1614-38C242EE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15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FE646-2B62-81D0-92FC-8B4932B4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AAB26-4523-74CA-B5E4-32FBC2CB5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93A25-208D-5A48-38B1-47CDB34E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36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AC15-CCF1-EB14-9616-662567D5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03361-0725-05FB-49F9-4A21A47D2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2BB94-5DFC-30EF-19E9-CB6126655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B68CE-2CBC-9E79-3A0C-9AC0A613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7A525-AEF4-1C9A-265D-8A353C0D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1A267-505F-07DE-85F6-A0F157D7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329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4FF3-7BA6-D26F-CC80-B06DC9F2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8EA1C2-95A0-1D6F-4317-786FF3C0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AFA05-6B09-E9AC-13B1-067E5534F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3475F-72FD-A21D-5FEB-5A39F4DD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CD0CA-F5E7-7F64-9CBE-C1634BEB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1ADC2-F706-CFB0-3559-36D39584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13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3FE5-2274-9117-B279-BEEBFA63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3D542-4F2C-4BD9-D542-43B536D64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48D5D-1AF7-D967-4DEA-8B0021B5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5CEC5-59AA-1546-3BDC-F066349C3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FD80D-63BA-601A-B47B-FEC0BF7B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27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E884B6-3914-CEF5-DCB9-54CBB00CD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721CE-0B60-8A86-6989-0BB8B01D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F8966-0C0A-289E-FF6C-8F3C1449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8245-6A66-B227-155C-B9F8C2C53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F480D-3B52-51A3-68A2-6A8BDED9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CE503-C110-954A-1B0B-D206EC662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08A5C-3B7E-045D-B1C6-D9D08943E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0A6BE-0E74-44EC-A1C2-C690BCB6B12D}" type="datetime1">
              <a:rPr lang="en-US" smtClean="0"/>
              <a:t>4/12/26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DBA7-2884-7A99-A10C-FE63CC153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C1ABCFE-9E3B-E74D-F670-C7C975786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40F3-A319-9577-8CFD-2B21DDA7F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5FAAD1-9464-6D84-8DC7-C11298C59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0" name="Freeform: Shape 2072">
              <a:extLst>
                <a:ext uri="{FF2B5EF4-FFF2-40B4-BE49-F238E27FC236}">
                  <a16:creationId xmlns:a16="http://schemas.microsoft.com/office/drawing/2014/main" id="{6A803560-A510-0A53-1452-EB72AD670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073">
              <a:extLst>
                <a:ext uri="{FF2B5EF4-FFF2-40B4-BE49-F238E27FC236}">
                  <a16:creationId xmlns:a16="http://schemas.microsoft.com/office/drawing/2014/main" id="{7198DB09-17B6-9C03-5872-B7F2CEEF5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2074">
              <a:extLst>
                <a:ext uri="{FF2B5EF4-FFF2-40B4-BE49-F238E27FC236}">
                  <a16:creationId xmlns:a16="http://schemas.microsoft.com/office/drawing/2014/main" id="{A633C632-7709-287D-2394-147A79BA2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2075">
              <a:extLst>
                <a:ext uri="{FF2B5EF4-FFF2-40B4-BE49-F238E27FC236}">
                  <a16:creationId xmlns:a16="http://schemas.microsoft.com/office/drawing/2014/main" id="{1C8EAA01-4CD0-C29F-5E51-7A44428BB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D30015-427E-53E9-C8B6-64B8335A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5" name="Freeform: Shape 2078">
              <a:extLst>
                <a:ext uri="{FF2B5EF4-FFF2-40B4-BE49-F238E27FC236}">
                  <a16:creationId xmlns:a16="http://schemas.microsoft.com/office/drawing/2014/main" id="{606B653C-9EA5-E468-15A2-8B82D214F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2079">
              <a:extLst>
                <a:ext uri="{FF2B5EF4-FFF2-40B4-BE49-F238E27FC236}">
                  <a16:creationId xmlns:a16="http://schemas.microsoft.com/office/drawing/2014/main" id="{5DBBED01-AA2C-7BD3-9F17-98133DD9C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2080">
              <a:extLst>
                <a:ext uri="{FF2B5EF4-FFF2-40B4-BE49-F238E27FC236}">
                  <a16:creationId xmlns:a16="http://schemas.microsoft.com/office/drawing/2014/main" id="{03E7198C-1A5F-55A8-26EE-FF98D9A3A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2081">
              <a:extLst>
                <a:ext uri="{FF2B5EF4-FFF2-40B4-BE49-F238E27FC236}">
                  <a16:creationId xmlns:a16="http://schemas.microsoft.com/office/drawing/2014/main" id="{FD1B85B4-7369-E708-C908-C4BBC2427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A13C9197-DBB4-E3B5-349D-86D26AE57EE9}"/>
              </a:ext>
            </a:extLst>
          </p:cNvPr>
          <p:cNvPicPr>
            <a:picLocks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1223" y="6256438"/>
            <a:ext cx="1481328" cy="52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5DC87AFE-F461-C08D-67CE-6C961FA2A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50285" y="6086152"/>
            <a:ext cx="2167871" cy="69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3ADA9F36-C7DA-9281-8FFD-E101EC8A7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5186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02FBE-0D3D-8ADD-22FF-CC7784D2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B82BF-D335-D091-21AC-CEDC16782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4FCF8-0468-0B98-0780-7B739F2EB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91CE5-1AB4-3744-A059-252CF5D2E74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F2B9F-C0C7-07D3-7E74-514B04C94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70171-A285-7620-4DBD-AD6785685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4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manning.com/hicks/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hyperlink" Target="https://leanpub.com/powershell-conference-boo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apien.com/books_training/Windows-PowerShell-4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leanpub.com/powershell101" TargetMode="Externa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powershell/" TargetMode="External"/><Relationship Id="rId2" Type="http://schemas.openxmlformats.org/officeDocument/2006/relationships/hyperlink" Target="https://github.com/PoshCode/PowerShellPracticeAndStyl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wershellpodcast.podbean.com/" TargetMode="External"/><Relationship Id="rId4" Type="http://schemas.openxmlformats.org/officeDocument/2006/relationships/hyperlink" Target="https://powershell.org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mikefrobbin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91" name="Group 2074">
            <a:extLst>
              <a:ext uri="{FF2B5EF4-FFF2-40B4-BE49-F238E27FC236}">
                <a16:creationId xmlns:a16="http://schemas.microsoft.com/office/drawing/2014/main" id="{DD2D4766-1D6B-4DC4-A102-D4107A01B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2076" name="Color">
              <a:extLst>
                <a:ext uri="{FF2B5EF4-FFF2-40B4-BE49-F238E27FC236}">
                  <a16:creationId xmlns:a16="http://schemas.microsoft.com/office/drawing/2014/main" id="{4DDFFE1E-C938-4F4A-9E1B-22A863B18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2" name="Color">
              <a:extLst>
                <a:ext uri="{FF2B5EF4-FFF2-40B4-BE49-F238E27FC236}">
                  <a16:creationId xmlns:a16="http://schemas.microsoft.com/office/drawing/2014/main" id="{4CE7EE72-F529-4594-8F11-F343AC20B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93" name="Group 207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4" name="Freeform: Shape 208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5" name="Freeform: Shape 208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6" name="Freeform: Shape 208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7" name="Freeform: Shape 208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8" name="Freeform: Shape 208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9" name="Freeform: Shape 208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D87FD35-6C7E-40F9-372C-761D15E29059}"/>
              </a:ext>
            </a:extLst>
          </p:cNvPr>
          <p:cNvSpPr txBox="1"/>
          <p:nvPr/>
        </p:nvSpPr>
        <p:spPr>
          <a:xfrm>
            <a:off x="6305054" y="2024285"/>
            <a:ext cx="5517750" cy="1570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Getting Started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with PowerShell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85D851-0964-C0FE-4F32-736A25DAD91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1223" y="6256438"/>
            <a:ext cx="1481328" cy="52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EE3A5A-98D5-07CE-E032-7D7BD8EB8409}"/>
              </a:ext>
            </a:extLst>
          </p:cNvPr>
          <p:cNvSpPr txBox="1"/>
          <p:nvPr/>
        </p:nvSpPr>
        <p:spPr>
          <a:xfrm>
            <a:off x="648875" y="3948990"/>
            <a:ext cx="4756760" cy="580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Mike F. Robbins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8D7F1-B24A-2E96-35A8-AAE93502D9D6}"/>
              </a:ext>
            </a:extLst>
          </p:cNvPr>
          <p:cNvSpPr txBox="1"/>
          <p:nvPr/>
        </p:nvSpPr>
        <p:spPr>
          <a:xfrm>
            <a:off x="656708" y="4419027"/>
            <a:ext cx="4756760" cy="5808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 err="1">
                <a:solidFill>
                  <a:schemeClr val="bg1"/>
                </a:solidFill>
                <a:ea typeface="Microsoft YaHei" panose="020B0503020204020204" pitchFamily="34" charset="-122"/>
                <a:cs typeface="Jaini" pitchFamily="2" charset="0"/>
              </a:rPr>
              <a:t>mikefrobbins.com</a:t>
            </a:r>
            <a:endParaRPr lang="en-US" sz="3600" dirty="0">
              <a:solidFill>
                <a:schemeClr val="bg1"/>
              </a:solidFill>
              <a:ea typeface="Microsoft YaHei" panose="020B0503020204020204" pitchFamily="34" charset="-122"/>
              <a:cs typeface="Jaini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11601B-2E96-694A-7693-56E476127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159" y="3631013"/>
            <a:ext cx="5099233" cy="1628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5AC73D-77A5-D1EB-B6E2-981EF47CE526}"/>
              </a:ext>
            </a:extLst>
          </p:cNvPr>
          <p:cNvPicPr>
            <a:picLocks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115602" y="1571727"/>
            <a:ext cx="5823305" cy="23875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E4CD75-2B33-1304-1C91-E5FD54B58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8895" y="151478"/>
            <a:ext cx="1765458" cy="176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65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70E4-BE0A-6AF6-37BF-21F5C406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Get-Help –Name '</a:t>
            </a:r>
            <a:r>
              <a:rPr lang="en-US" dirty="0" err="1"/>
              <a:t>about_Presenter</a:t>
            </a:r>
            <a:r>
              <a:rPr lang="en-US" dirty="0"/>
              <a:t>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C940E-C4C4-EB82-0616-1A38D7CF5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Mike F. Robbins</a:t>
            </a:r>
          </a:p>
          <a:p>
            <a:r>
              <a:rPr lang="en-US" sz="2800" dirty="0"/>
              <a:t>Lead docs writer for Azure CLI &amp; Azure PowerShell at Microsoft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F9E5197A-B469-BD63-8F3A-23DF563F8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94" y="2958067"/>
            <a:ext cx="1428571" cy="1838095"/>
          </a:xfrm>
          <a:prstGeom prst="rect">
            <a:avLst/>
          </a:prstGeom>
        </p:spPr>
      </p:pic>
      <p:pic>
        <p:nvPicPr>
          <p:cNvPr id="6" name="Content Placeholder 3">
            <a:hlinkClick r:id="rId4"/>
            <a:extLst>
              <a:ext uri="{FF2B5EF4-FFF2-40B4-BE49-F238E27FC236}">
                <a16:creationId xmlns:a16="http://schemas.microsoft.com/office/drawing/2014/main" id="{48380736-7A98-2D2D-AF2F-E7745C9F34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4383" y="2958823"/>
            <a:ext cx="1428750" cy="1850571"/>
          </a:xfrm>
          <a:prstGeom prst="rect">
            <a:avLst/>
          </a:prstGeom>
        </p:spPr>
      </p:pic>
      <p:pic>
        <p:nvPicPr>
          <p:cNvPr id="7" name="Picture 6">
            <a:hlinkClick r:id="rId6"/>
            <a:extLst>
              <a:ext uri="{FF2B5EF4-FFF2-40B4-BE49-F238E27FC236}">
                <a16:creationId xmlns:a16="http://schemas.microsoft.com/office/drawing/2014/main" id="{69033293-95CF-AFF8-D3A6-735D4055BD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9626" y="2958067"/>
            <a:ext cx="1428750" cy="2038349"/>
          </a:xfrm>
          <a:prstGeom prst="rect">
            <a:avLst/>
          </a:prstGeom>
        </p:spPr>
      </p:pic>
      <p:pic>
        <p:nvPicPr>
          <p:cNvPr id="8" name="Picture 7">
            <a:hlinkClick r:id="rId8"/>
            <a:extLst>
              <a:ext uri="{FF2B5EF4-FFF2-40B4-BE49-F238E27FC236}">
                <a16:creationId xmlns:a16="http://schemas.microsoft.com/office/drawing/2014/main" id="{CBA5DF73-6B95-86E0-522B-72C8840187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2158" y="2958067"/>
            <a:ext cx="142875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F0487-D05F-08A3-FE2E-4B729769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42B6-C9FA-7C1C-BE79-C0A585B6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Start-Process 'Demo'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9F668-B84A-CFFE-ACC0-CF6609BF9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Demo Code: </a:t>
            </a:r>
            <a:r>
              <a:rPr lang="en-US" dirty="0">
                <a:solidFill>
                  <a:srgbClr val="FF0000"/>
                </a:solidFill>
              </a:rPr>
              <a:t>github.com/</a:t>
            </a:r>
            <a:r>
              <a:rPr lang="en-US" dirty="0" err="1">
                <a:solidFill>
                  <a:srgbClr val="FF0000"/>
                </a:solidFill>
              </a:rPr>
              <a:t>devops</a:t>
            </a:r>
            <a:r>
              <a:rPr lang="en-US" dirty="0">
                <a:solidFill>
                  <a:srgbClr val="FF0000"/>
                </a:solidFill>
              </a:rPr>
              <a:t>-collective-</a:t>
            </a:r>
            <a:r>
              <a:rPr lang="en-US" dirty="0" err="1">
                <a:solidFill>
                  <a:srgbClr val="FF0000"/>
                </a:solidFill>
              </a:rPr>
              <a:t>inc</a:t>
            </a:r>
            <a:r>
              <a:rPr lang="en-US" dirty="0">
                <a:solidFill>
                  <a:srgbClr val="FF0000"/>
                </a:solidFill>
              </a:rPr>
              <a:t>/OnRamp-2026/</a:t>
            </a:r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E8BD9F5D-CCB4-619B-F98A-CCDF6EF09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707" y="2198087"/>
            <a:ext cx="5668586" cy="3868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058F77-77FA-9F23-91E6-28C144FEA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4161" y="4132491"/>
            <a:ext cx="1765458" cy="176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3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978A-6DC1-8EB9-650C-D5ED55E2C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PowerShell?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B72E9-42A5-B66A-3DAD-8E43CA203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easy-to-use command-line shell, scripting language, and task automation framework</a:t>
            </a:r>
          </a:p>
          <a:p>
            <a:r>
              <a:rPr lang="en-US" dirty="0"/>
              <a:t>Key features</a:t>
            </a:r>
          </a:p>
          <a:p>
            <a:pPr lvl="1"/>
            <a:r>
              <a:rPr lang="en-US" dirty="0"/>
              <a:t>Object-oriented</a:t>
            </a:r>
          </a:p>
          <a:p>
            <a:pPr lvl="1"/>
            <a:r>
              <a:rPr lang="en-US" dirty="0"/>
              <a:t>Open source</a:t>
            </a:r>
          </a:p>
          <a:p>
            <a:pPr lvl="1"/>
            <a:r>
              <a:rPr lang="en-US" dirty="0"/>
              <a:t>Cross-platform</a:t>
            </a:r>
          </a:p>
          <a:p>
            <a:pPr lvl="1"/>
            <a:r>
              <a:rPr lang="en-US" dirty="0"/>
              <a:t>Extensible</a:t>
            </a:r>
          </a:p>
          <a:p>
            <a:pPr lvl="1"/>
            <a:r>
              <a:rPr lang="en-US" dirty="0"/>
              <a:t>Integration with .NET</a:t>
            </a:r>
          </a:p>
          <a:p>
            <a:pPr lvl="1"/>
            <a:r>
              <a:rPr lang="en-US" dirty="0"/>
              <a:t>Remote management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04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2139-405A-CD3D-C9C2-1A69F82F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 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E29F9-E329-A8A3-037F-9145DC71A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PowerShell 7 (</a:t>
            </a:r>
            <a:r>
              <a:rPr lang="en-US" dirty="0" err="1"/>
              <a:t>pwsh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 current version of PowerShell</a:t>
            </a:r>
          </a:p>
          <a:p>
            <a:pPr lvl="1"/>
            <a:r>
              <a:rPr lang="en-US" dirty="0"/>
              <a:t>Known as “PowerShell”</a:t>
            </a:r>
          </a:p>
          <a:p>
            <a:pPr lvl="1"/>
            <a:r>
              <a:rPr lang="en-US" dirty="0"/>
              <a:t>Installs side-by-side with Windows PowerShell (on Windows)</a:t>
            </a:r>
          </a:p>
          <a:p>
            <a:r>
              <a:rPr lang="en-US" dirty="0"/>
              <a:t>PowerShell 6</a:t>
            </a:r>
          </a:p>
          <a:p>
            <a:pPr lvl="1"/>
            <a:r>
              <a:rPr lang="en-US" dirty="0"/>
              <a:t>Formerly known as PowerShell Core</a:t>
            </a:r>
          </a:p>
          <a:p>
            <a:pPr lvl="1"/>
            <a:r>
              <a:rPr lang="en-US" dirty="0"/>
              <a:t>No longer supported</a:t>
            </a:r>
          </a:p>
          <a:p>
            <a:r>
              <a:rPr lang="en-US" dirty="0"/>
              <a:t>Windows PowerShell 5.1 (</a:t>
            </a:r>
            <a:r>
              <a:rPr lang="en-US" dirty="0" err="1"/>
              <a:t>powershell.exe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 version of PowerShell that ships with Windows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C40419-7DA8-5CF1-68C8-6D575FA50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392" y="203368"/>
            <a:ext cx="40640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7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6075-D7D7-A227-0F0C-8E11218E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cmdlets?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969E9-A6F6-A5F7-87C1-5BFD2D88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Compiled commands in PowerShell</a:t>
            </a:r>
          </a:p>
          <a:p>
            <a:r>
              <a:rPr lang="en-US" dirty="0"/>
              <a:t>Pronounced “command-let”, not “CMD-let”</a:t>
            </a:r>
          </a:p>
          <a:p>
            <a:r>
              <a:rPr lang="en-US" dirty="0"/>
              <a:t>Naming convention</a:t>
            </a:r>
          </a:p>
          <a:p>
            <a:pPr lvl="1"/>
            <a:r>
              <a:rPr lang="en-US" dirty="0"/>
              <a:t>Singular Verb-Noun</a:t>
            </a:r>
          </a:p>
          <a:p>
            <a:pPr lvl="2"/>
            <a:r>
              <a:rPr lang="en-US" dirty="0"/>
              <a:t>Makes them easily discoverable</a:t>
            </a:r>
          </a:p>
          <a:p>
            <a:pPr lvl="1"/>
            <a:r>
              <a:rPr lang="en-US" dirty="0"/>
              <a:t>Pascal cased</a:t>
            </a:r>
          </a:p>
          <a:p>
            <a:r>
              <a:rPr lang="en-US" dirty="0"/>
              <a:t>Native commands in PowerShell</a:t>
            </a:r>
          </a:p>
          <a:p>
            <a:r>
              <a:rPr lang="en-US" dirty="0"/>
              <a:t>They exist only in PowerShell</a:t>
            </a:r>
          </a:p>
          <a:p>
            <a:r>
              <a:rPr lang="en-US" dirty="0"/>
              <a:t>Written in a .NET programming language such as C#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21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71FC-AE15-9C40-AE11-DCABE9A8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B2BC1-DBD7-877F-713B-4F55098A3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cmdlets</a:t>
            </a:r>
          </a:p>
          <a:p>
            <a:r>
              <a:rPr lang="en-US" dirty="0"/>
              <a:t>Written in PowerShell’s scripting language</a:t>
            </a:r>
          </a:p>
          <a:p>
            <a:pPr lvl="1"/>
            <a:r>
              <a:rPr lang="en-US" dirty="0"/>
              <a:t>Not written in a .NET programing </a:t>
            </a:r>
            <a:r>
              <a:rPr lang="en-US" dirty="0" err="1"/>
              <a:t>lauguage</a:t>
            </a:r>
            <a:endParaRPr lang="en-US" dirty="0"/>
          </a:p>
          <a:p>
            <a:r>
              <a:rPr lang="en-US" dirty="0"/>
              <a:t>Some refer to them as script cmdlets</a:t>
            </a:r>
          </a:p>
        </p:txBody>
      </p:sp>
    </p:spTree>
    <p:extLst>
      <p:ext uri="{BB962C8B-B14F-4D97-AF65-F5344CB8AC3E}">
        <p14:creationId xmlns:p14="http://schemas.microsoft.com/office/powerpoint/2010/main" val="234494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8BB5-EB25-9195-7FD9-DEAECE52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modules?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FEEC3-9C65-E7C3-84C4-FD5592A6E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group of commands packaged together</a:t>
            </a:r>
          </a:p>
          <a:p>
            <a:r>
              <a:rPr lang="en-US" dirty="0"/>
              <a:t>Can contain</a:t>
            </a:r>
          </a:p>
          <a:p>
            <a:pPr lvl="1"/>
            <a:r>
              <a:rPr lang="en-US" dirty="0"/>
              <a:t>Cmdlets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Scripts</a:t>
            </a:r>
          </a:p>
          <a:p>
            <a:pPr lvl="1"/>
            <a:r>
              <a:rPr lang="en-US" dirty="0"/>
              <a:t>Other resources</a:t>
            </a:r>
          </a:p>
          <a:p>
            <a:r>
              <a:rPr lang="en-US" dirty="0"/>
              <a:t>Group related functionality together</a:t>
            </a:r>
          </a:p>
          <a:p>
            <a:r>
              <a:rPr lang="en-US" dirty="0"/>
              <a:t>Extends the functionality of PowerShell</a:t>
            </a:r>
          </a:p>
          <a:p>
            <a:r>
              <a:rPr lang="en-US" dirty="0"/>
              <a:t>Easier to distribute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75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4BF4-E1C5-C1C4-AB61-04BF7DE2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variables?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92ECD-C5B6-3EF5-4BD8-D314FE663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store data</a:t>
            </a:r>
          </a:p>
          <a:p>
            <a:r>
              <a:rPr lang="en-US" dirty="0"/>
              <a:t>Can be manipulated through out a script or session</a:t>
            </a:r>
          </a:p>
          <a:p>
            <a:r>
              <a:rPr lang="en-US" dirty="0"/>
              <a:t>Start with a dollar sign ($)</a:t>
            </a:r>
          </a:p>
          <a:p>
            <a:r>
              <a:rPr lang="en-US" dirty="0"/>
              <a:t>Values assigned using the equals (=) assignment operator</a:t>
            </a:r>
          </a:p>
          <a:p>
            <a:r>
              <a:rPr lang="en-US" dirty="0"/>
              <a:t>Don’t use Hungarian notation</a:t>
            </a:r>
          </a:p>
          <a:p>
            <a:pPr lvl="1"/>
            <a:r>
              <a:rPr lang="en-US" dirty="0"/>
              <a:t>$</a:t>
            </a:r>
            <a:r>
              <a:rPr lang="en-US" dirty="0" err="1"/>
              <a:t>strName</a:t>
            </a:r>
            <a:endParaRPr lang="en-US" dirty="0"/>
          </a:p>
          <a:p>
            <a:pPr lvl="1"/>
            <a:r>
              <a:rPr lang="en-US" dirty="0"/>
              <a:t>$</a:t>
            </a:r>
            <a:r>
              <a:rPr lang="en-US" dirty="0" err="1"/>
              <a:t>intNumber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5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AB6A-B64F-3CE5-FC52-3CD2ED83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What are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68128-82AE-53F0-F0F6-957E7BB7F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Data structure that stores a collection of items</a:t>
            </a:r>
          </a:p>
          <a:p>
            <a:r>
              <a:rPr lang="en-US" dirty="0"/>
              <a:t>Arrays are flexible</a:t>
            </a:r>
          </a:p>
          <a:p>
            <a:pPr lvl="1"/>
            <a:r>
              <a:rPr lang="en-US" sz="2800" dirty="0"/>
              <a:t>Can hold items of different types</a:t>
            </a:r>
          </a:p>
          <a:p>
            <a:r>
              <a:rPr lang="en-US" dirty="0"/>
              <a:t>Zero indexed (or zero based)</a:t>
            </a:r>
          </a:p>
          <a:p>
            <a:pPr lvl="1"/>
            <a:r>
              <a:rPr lang="en-US" sz="2800" dirty="0"/>
              <a:t>The first item is index 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E7FE7-46F3-3DCF-CEA1-91D221F6E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717" y="1399032"/>
            <a:ext cx="4525910" cy="46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1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281C6-3D77-9D10-ED5A-DCFC2FF9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</a:t>
            </a:r>
            <a:r>
              <a:rPr lang="en-US" dirty="0" err="1"/>
              <a:t>hashtables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F366E-C074-DC34-3EA2-18C3E61B2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dictionary-like structure</a:t>
            </a:r>
          </a:p>
          <a:p>
            <a:r>
              <a:rPr lang="en-US" dirty="0"/>
              <a:t>Each value is associated with a unique key</a:t>
            </a:r>
          </a:p>
          <a:p>
            <a:r>
              <a:rPr lang="en-US" dirty="0"/>
              <a:t>Useful for storing and retrieving data</a:t>
            </a:r>
          </a:p>
          <a:p>
            <a:pPr lvl="1"/>
            <a:r>
              <a:rPr lang="en-US" dirty="0"/>
              <a:t>Each item can be quickly accessed using its key</a:t>
            </a:r>
          </a:p>
        </p:txBody>
      </p:sp>
    </p:spTree>
    <p:extLst>
      <p:ext uri="{BB962C8B-B14F-4D97-AF65-F5344CB8AC3E}">
        <p14:creationId xmlns:p14="http://schemas.microsoft.com/office/powerpoint/2010/main" val="227327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4EFF5-D37F-3EDB-2319-FEC091BFC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script blocks?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813EC-1062-010A-ECB1-E22062D07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of commands or expressions enclosed in curly braces {}</a:t>
            </a:r>
          </a:p>
          <a:p>
            <a:r>
              <a:rPr lang="en-US" dirty="0"/>
              <a:t>Can be stored in:</a:t>
            </a:r>
          </a:p>
          <a:p>
            <a:pPr lvl="1"/>
            <a:r>
              <a:rPr lang="en-US" dirty="0"/>
              <a:t>Variables</a:t>
            </a:r>
          </a:p>
          <a:p>
            <a:pPr lvl="1"/>
            <a:r>
              <a:rPr lang="en-US" dirty="0"/>
              <a:t>Passed as arguments</a:t>
            </a:r>
          </a:p>
          <a:p>
            <a:pPr lvl="1"/>
            <a:r>
              <a:rPr lang="en-US" dirty="0"/>
              <a:t>Used with cmdlets, such as </a:t>
            </a:r>
            <a:r>
              <a:rPr lang="en-US" dirty="0" err="1"/>
              <a:t>ForEach</a:t>
            </a:r>
            <a:r>
              <a:rPr lang="en-US" dirty="0"/>
              <a:t>-Object</a:t>
            </a:r>
          </a:p>
          <a:p>
            <a:r>
              <a:rPr lang="en-US" dirty="0"/>
              <a:t>A fundamental construct in PowerShell</a:t>
            </a:r>
          </a:p>
          <a:p>
            <a:r>
              <a:rPr lang="en-US" dirty="0"/>
              <a:t>Enable the creation of complex scripts and commands</a:t>
            </a:r>
          </a:p>
        </p:txBody>
      </p:sp>
    </p:spTree>
    <p:extLst>
      <p:ext uri="{BB962C8B-B14F-4D97-AF65-F5344CB8AC3E}">
        <p14:creationId xmlns:p14="http://schemas.microsoft.com/office/powerpoint/2010/main" val="227512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98C8-6A4C-73DC-0CB6-310B879B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figure out what the commands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A3833-B031-5A8C-6B7E-1E0BCE6A5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commands for discovering how to use PowerShell</a:t>
            </a:r>
          </a:p>
          <a:p>
            <a:pPr lvl="1"/>
            <a:r>
              <a:rPr lang="en-US" sz="4800" b="1" dirty="0">
                <a:solidFill>
                  <a:srgbClr val="FF0000"/>
                </a:solidFill>
              </a:rPr>
              <a:t>Get-Command</a:t>
            </a:r>
          </a:p>
          <a:p>
            <a:pPr lvl="2"/>
            <a:r>
              <a:rPr lang="en-US" dirty="0"/>
              <a:t>Find what commands are available</a:t>
            </a:r>
          </a:p>
          <a:p>
            <a:pPr lvl="1"/>
            <a:r>
              <a:rPr lang="en-US" sz="4800" b="1" dirty="0">
                <a:solidFill>
                  <a:srgbClr val="FF0000"/>
                </a:solidFill>
              </a:rPr>
              <a:t>Get-Help</a:t>
            </a:r>
          </a:p>
          <a:p>
            <a:pPr lvl="2"/>
            <a:r>
              <a:rPr lang="en-US" dirty="0"/>
              <a:t>Figure out how to use commands</a:t>
            </a:r>
          </a:p>
          <a:p>
            <a:pPr lvl="1"/>
            <a:r>
              <a:rPr lang="en-US" sz="4800" b="1" dirty="0">
                <a:solidFill>
                  <a:srgbClr val="FF0000"/>
                </a:solidFill>
              </a:rPr>
              <a:t>Get-Member</a:t>
            </a:r>
          </a:p>
          <a:p>
            <a:pPr lvl="2"/>
            <a:r>
              <a:rPr lang="en-US" dirty="0"/>
              <a:t>Discover objects, properties, and methods</a:t>
            </a:r>
          </a:p>
        </p:txBody>
      </p:sp>
      <p:pic>
        <p:nvPicPr>
          <p:cNvPr id="4" name="Picture 3" descr="C:\Users\mrobbins\AppData\Local\Temp\SNAGHTML47dff5a.PNG">
            <a:extLst>
              <a:ext uri="{FF2B5EF4-FFF2-40B4-BE49-F238E27FC236}">
                <a16:creationId xmlns:a16="http://schemas.microsoft.com/office/drawing/2014/main" id="{27D98B99-FD8D-C385-22B1-395DA7AA1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974" y="2158814"/>
            <a:ext cx="442912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459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EBA6C-AF81-341D-C08D-D954D55B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Start-Process 'Demo'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58A47-893E-C87C-A6E4-11AB57334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Demo Code: </a:t>
            </a:r>
            <a:r>
              <a:rPr lang="en-US" dirty="0">
                <a:solidFill>
                  <a:srgbClr val="FF0000"/>
                </a:solidFill>
              </a:rPr>
              <a:t>github.com/</a:t>
            </a:r>
            <a:r>
              <a:rPr lang="en-US" dirty="0" err="1">
                <a:solidFill>
                  <a:srgbClr val="FF0000"/>
                </a:solidFill>
              </a:rPr>
              <a:t>devops</a:t>
            </a:r>
            <a:r>
              <a:rPr lang="en-US" dirty="0">
                <a:solidFill>
                  <a:srgbClr val="FF0000"/>
                </a:solidFill>
              </a:rPr>
              <a:t>-collective-</a:t>
            </a:r>
            <a:r>
              <a:rPr lang="en-US" dirty="0" err="1">
                <a:solidFill>
                  <a:srgbClr val="FF0000"/>
                </a:solidFill>
              </a:rPr>
              <a:t>inc</a:t>
            </a:r>
            <a:r>
              <a:rPr lang="en-US" dirty="0">
                <a:solidFill>
                  <a:srgbClr val="FF0000"/>
                </a:solidFill>
              </a:rPr>
              <a:t>/OnRamp-2026/</a:t>
            </a:r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2E6DBD52-1F69-C7A7-7200-04D8718E9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707" y="2198087"/>
            <a:ext cx="5668586" cy="3868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08C81B-7758-E434-87FD-1A23DEBC1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962" y="4132491"/>
            <a:ext cx="1765458" cy="176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34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6F3C-ED2B-CE50-47F2-630229A7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lab for Update-Help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D2AAC-F053-35B2-ADF7-24F49197A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the help on your system if you haven’t done so already.</a:t>
            </a:r>
          </a:p>
        </p:txBody>
      </p:sp>
    </p:spTree>
    <p:extLst>
      <p:ext uri="{BB962C8B-B14F-4D97-AF65-F5344CB8AC3E}">
        <p14:creationId xmlns:p14="http://schemas.microsoft.com/office/powerpoint/2010/main" val="288434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5E96-41F1-3535-F60A-3CA51ABF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lab for Get-Command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2E06F-95C1-D616-F6FC-5EF351F54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the commands in the same module as Get-Process</a:t>
            </a:r>
          </a:p>
          <a:p>
            <a:pPr lvl="1"/>
            <a:r>
              <a:rPr lang="en-US" dirty="0"/>
              <a:t>Step 1 – Determine what module Get-Process is in</a:t>
            </a:r>
          </a:p>
          <a:p>
            <a:pPr lvl="1"/>
            <a:r>
              <a:rPr lang="en-US" dirty="0"/>
              <a:t>Step 2 – Return a list of the commands from that module</a:t>
            </a:r>
          </a:p>
        </p:txBody>
      </p:sp>
    </p:spTree>
    <p:extLst>
      <p:ext uri="{BB962C8B-B14F-4D97-AF65-F5344CB8AC3E}">
        <p14:creationId xmlns:p14="http://schemas.microsoft.com/office/powerpoint/2010/main" val="306500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CF92-6374-369D-589F-1BF65C69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Select-Object –Property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373AC-46E3-F5B4-06CB-A1114F4EE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PowerShell Best Practices and Style Guide: </a:t>
            </a:r>
            <a:r>
              <a:rPr lang="en-US" sz="2800" dirty="0">
                <a:hlinkClick r:id="rId2"/>
              </a:rPr>
              <a:t>github.com/PoshCode/PowerShellPracticeAndStyle</a:t>
            </a:r>
            <a:endParaRPr lang="en-US" sz="2800" dirty="0"/>
          </a:p>
          <a:p>
            <a:r>
              <a:rPr lang="en-US" sz="2800" dirty="0"/>
              <a:t>The Official Product Documentation for PowerShell: </a:t>
            </a:r>
            <a:r>
              <a:rPr lang="en-US" sz="2800" dirty="0">
                <a:hlinkClick r:id="rId3"/>
              </a:rPr>
              <a:t>learn.microsoft.com/powershell/</a:t>
            </a:r>
            <a:endParaRPr lang="en-US" sz="2800" dirty="0"/>
          </a:p>
          <a:p>
            <a:r>
              <a:rPr lang="en-US" sz="2800" dirty="0">
                <a:hlinkClick r:id="rId4"/>
              </a:rPr>
              <a:t>PowerShell.org</a:t>
            </a:r>
            <a:endParaRPr lang="en-US" sz="2800" dirty="0"/>
          </a:p>
          <a:p>
            <a:r>
              <a:rPr lang="en-US" sz="2800" dirty="0"/>
              <a:t>PowerShell Podcast: </a:t>
            </a:r>
            <a:r>
              <a:rPr lang="en-US" sz="2800" dirty="0">
                <a:hlinkClick r:id="rId5"/>
              </a:rPr>
              <a:t>powershellpodcast.podbean.com/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96300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E36E-9485-BD8C-1E61-2E26699ED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Get-Contact –Identity 'Presenter'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6ED4-4466-6B18-5906-A0298B18D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sz="2800" dirty="0"/>
              <a:t>Blog: </a:t>
            </a:r>
            <a:r>
              <a:rPr lang="en-US" sz="2800" dirty="0">
                <a:hlinkClick r:id="rId2"/>
              </a:rPr>
              <a:t>mikefrobbins.com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144CBE-BFEC-E941-FB63-1F926E636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996" y="2166026"/>
            <a:ext cx="2138329" cy="213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8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6822</TotalTime>
  <Words>537</Words>
  <Application>Microsoft Macintosh PowerPoint</Application>
  <PresentationFormat>Widescreen</PresentationFormat>
  <Paragraphs>107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Microsoft YaHei</vt:lpstr>
      <vt:lpstr>Arial</vt:lpstr>
      <vt:lpstr>Calibri</vt:lpstr>
      <vt:lpstr>Calibri Light</vt:lpstr>
      <vt:lpstr>Office Theme</vt:lpstr>
      <vt:lpstr>Custom Design</vt:lpstr>
      <vt:lpstr>PowerPoint Presentation</vt:lpstr>
      <vt:lpstr>Get-Help –Name 'about_Presenter'</vt:lpstr>
      <vt:lpstr>Start-Process 'Demo'</vt:lpstr>
      <vt:lpstr>What is PowerShell?</vt:lpstr>
      <vt:lpstr>PowerShell versions</vt:lpstr>
      <vt:lpstr>What are cmdlets?</vt:lpstr>
      <vt:lpstr>What are functions?</vt:lpstr>
      <vt:lpstr>What are modules?</vt:lpstr>
      <vt:lpstr>What are variables?</vt:lpstr>
      <vt:lpstr>What are arrays?</vt:lpstr>
      <vt:lpstr>What are hashtables?</vt:lpstr>
      <vt:lpstr>What are script blocks?</vt:lpstr>
      <vt:lpstr>How to figure out what the commands are</vt:lpstr>
      <vt:lpstr>Start-Process 'Demo'</vt:lpstr>
      <vt:lpstr>Hands-on lab for Update-Help</vt:lpstr>
      <vt:lpstr>Hands-on lab for Get-Command</vt:lpstr>
      <vt:lpstr>Select-Object –Property Resources</vt:lpstr>
      <vt:lpstr>Get-Contact –Identity 'Presenter'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Kenny Neal</dc:creator>
  <cp:lastModifiedBy>Mike Robbins</cp:lastModifiedBy>
  <cp:revision>156</cp:revision>
  <dcterms:created xsi:type="dcterms:W3CDTF">2023-07-23T23:39:02Z</dcterms:created>
  <dcterms:modified xsi:type="dcterms:W3CDTF">2026-04-13T03:52:54Z</dcterms:modified>
</cp:coreProperties>
</file>